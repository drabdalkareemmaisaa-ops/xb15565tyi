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60" r:id="rId3"/>
    <p:sldId id="262" r:id="rId4"/>
    <p:sldId id="263" r:id="rId5"/>
    <p:sldId id="261" r:id="rId6"/>
    <p:sldId id="259" r:id="rId7"/>
    <p:sldId id="257" r:id="rId8"/>
    <p:sldId id="258" r:id="rId9"/>
  </p:sldIdLst>
  <p:sldSz cx="12192000" cy="6858000"/>
  <p:notesSz cx="6858000" cy="9144000"/>
  <p:defaultTextStyle>
    <a:defPPr>
      <a:defRPr lang="ar-SY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softEdge">
              <a:bevelT w="127000" prst="artDeco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ar-SY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Dev"/>
            <c:noEndCap val="0"/>
            <c:val val="1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ورقة1!$M$54:$N$54</c:f>
              <c:strCache>
                <c:ptCount val="2"/>
                <c:pt idx="0">
                  <c:v>Control (Non-CAD)</c:v>
                </c:pt>
                <c:pt idx="1">
                  <c:v>CAD </c:v>
                </c:pt>
              </c:strCache>
            </c:strRef>
          </c:cat>
          <c:val>
            <c:numRef>
              <c:f>ورقة1!$M$55:$N$55</c:f>
              <c:numCache>
                <c:formatCode>General</c:formatCode>
                <c:ptCount val="2"/>
                <c:pt idx="0">
                  <c:v>416.34</c:v>
                </c:pt>
                <c:pt idx="1">
                  <c:v>275.25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F0-4FB3-A4EB-AECDDDEA85F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46321103"/>
        <c:axId val="1346316943"/>
      </c:barChart>
      <c:catAx>
        <c:axId val="13463211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ar-SY" sz="1100" b="1"/>
                  <a:t>مجموعتي الدراسة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ar-S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pPr>
            <a:endParaRPr lang="ar-SY"/>
          </a:p>
        </c:txPr>
        <c:crossAx val="1346316943"/>
        <c:crosses val="autoZero"/>
        <c:auto val="1"/>
        <c:lblAlgn val="ctr"/>
        <c:lblOffset val="100"/>
        <c:noMultiLvlLbl val="0"/>
      </c:catAx>
      <c:valAx>
        <c:axId val="1346316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 dirty="0"/>
                  <a:t>APJ Conc. (</a:t>
                </a:r>
                <a:r>
                  <a:rPr lang="en-US" sz="1100" b="1" dirty="0" err="1"/>
                  <a:t>pg</a:t>
                </a:r>
                <a:r>
                  <a:rPr lang="en-US" sz="1100" b="1" dirty="0"/>
                  <a:t>/ml)</a:t>
                </a:r>
              </a:p>
            </c:rich>
          </c:tx>
          <c:layout>
            <c:manualLayout>
              <c:xMode val="edge"/>
              <c:yMode val="edge"/>
              <c:x val="9.3055555555556172E-3"/>
              <c:y val="0.3371146772743372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ar-S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ar-SY"/>
          </a:p>
        </c:txPr>
        <c:crossAx val="1346321103"/>
        <c:crosses val="autoZero"/>
        <c:crossBetween val="between"/>
      </c:valAx>
      <c:spPr>
        <a:noFill/>
        <a:ln w="19050"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noFill/>
    <a:ln>
      <a:solidFill>
        <a:sysClr val="windowText" lastClr="000000"/>
      </a:solidFill>
    </a:ln>
    <a:effectLst/>
  </c:spPr>
  <c:txPr>
    <a:bodyPr/>
    <a:lstStyle/>
    <a:p>
      <a:pPr>
        <a:defRPr/>
      </a:pPr>
      <a:endParaRPr lang="ar-SY"/>
    </a:p>
  </c:txPr>
  <c:externalData r:id="rId4">
    <c:autoUpdate val="0"/>
  </c:externalData>
  <c:userShapes r:id="rId5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90-40AA-BDF5-08DE0A88F7C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ar-SY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Dev"/>
            <c:noEndCap val="0"/>
            <c:val val="1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'[المخطط في Microsoft PowerPoint]ورقة1'!$M$54:$N$54</c:f>
              <c:strCache>
                <c:ptCount val="2"/>
                <c:pt idx="0">
                  <c:v>Control (Non-CAD)</c:v>
                </c:pt>
                <c:pt idx="1">
                  <c:v>CAD </c:v>
                </c:pt>
              </c:strCache>
            </c:strRef>
          </c:cat>
          <c:val>
            <c:numRef>
              <c:f>'[المخطط في Microsoft PowerPoint]ورقة1'!$M$55:$N$55</c:f>
              <c:numCache>
                <c:formatCode>General</c:formatCode>
                <c:ptCount val="2"/>
                <c:pt idx="0">
                  <c:v>6377.85</c:v>
                </c:pt>
                <c:pt idx="1">
                  <c:v>3942.82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90-40AA-BDF5-08DE0A88F7C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26"/>
        <c:overlap val="-64"/>
        <c:axId val="1346321103"/>
        <c:axId val="1346316943"/>
      </c:barChart>
      <c:catAx>
        <c:axId val="1346321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ar-SY"/>
          </a:p>
        </c:txPr>
        <c:crossAx val="1346316943"/>
        <c:crosses val="autoZero"/>
        <c:auto val="1"/>
        <c:lblAlgn val="ctr"/>
        <c:lblOffset val="100"/>
        <c:noMultiLvlLbl val="0"/>
      </c:catAx>
      <c:valAx>
        <c:axId val="1346316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>
              <a:softEdge rad="0"/>
            </a:effectLst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/>
                  <a:t>Apelin (pg/ml)</a:t>
                </a:r>
              </a:p>
            </c:rich>
          </c:tx>
          <c:layout>
            <c:manualLayout>
              <c:xMode val="edge"/>
              <c:yMode val="edge"/>
              <c:x val="2.0416666666666729E-2"/>
              <c:y val="0.2586833047253175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ar-SY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ar-SY"/>
          </a:p>
        </c:txPr>
        <c:crossAx val="1346321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ar-SY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0.37095</cdr:x>
      <cdr:y>0.07795</cdr:y>
    </cdr:from>
    <cdr:to>
      <cdr:x>0.56363</cdr:x>
      <cdr:y>0.17291</cdr:y>
    </cdr:to>
    <cdr:sp macro="" textlink="">
      <cdr:nvSpPr>
        <cdr:cNvPr id="2" name="مستطيل 1">
          <a:extLst xmlns:a="http://schemas.openxmlformats.org/drawingml/2006/main">
            <a:ext uri="{FF2B5EF4-FFF2-40B4-BE49-F238E27FC236}">
              <a16:creationId xmlns:a16="http://schemas.microsoft.com/office/drawing/2014/main" id="{7151EBDA-8C8A-43C0-9005-AC304E4BCA66}"/>
            </a:ext>
          </a:extLst>
        </cdr:cNvPr>
        <cdr:cNvSpPr/>
      </cdr:nvSpPr>
      <cdr:spPr>
        <a:xfrm xmlns:a="http://schemas.openxmlformats.org/drawingml/2006/main">
          <a:off x="1695971" y="214585"/>
          <a:ext cx="880946" cy="26138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b="1" dirty="0">
              <a:solidFill>
                <a:schemeClr val="tx1"/>
              </a:solidFill>
            </a:rPr>
            <a:t>P = 0.005</a:t>
          </a:r>
          <a:endParaRPr lang="ar-SY" sz="1200" b="1" dirty="0">
            <a:solidFill>
              <a:schemeClr val="tx1"/>
            </a:solidFill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12B35C0-7A32-4261-9A31-12235FEC8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B68C2760-302F-4613-9234-D96AB7491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449E9DB-EC71-42D2-A81B-B1D45F92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BB74B91-1D04-4C9F-809E-D3CE3172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125AFC9-8FF3-4909-BAA1-F01B5A50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38481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502448A-F9E1-43A9-B186-47A0E3804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C2D17CF-CEE1-4BBD-ADCC-1AF2DD124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E2ECA3E-675B-4432-A07A-9CD293C1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F9CF890-01E7-4581-8D75-A96560D8A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B44594D-3193-4011-8043-955D9173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38304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663379F-5384-4279-B69B-30ECD445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D3A0464-6205-43CA-87D6-A9020C6CA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E439E20-D2D5-41CC-8794-8BB55E682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A568088-4B93-4BA1-9D39-95707776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90F75FB-61E8-4CEA-ACFE-35DAD36B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04069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20F06B6-37CA-4E22-9102-FECE7E280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0BB351C-2014-4BA1-9B65-9F403777D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EBBB8FB1-22CD-4318-9BE0-6DE4AEFDA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CB1667C-4BB0-42DB-9554-324A24619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08C6300-E142-4890-84BE-4A9E7A40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E104C925-7CED-474C-ADB9-1BD09960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58909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9FD8F27-605D-48CE-8499-C058B17C9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7A5EE6A1-6444-4D2A-A065-BF12DDF58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4095D63-F297-4257-B684-16433B21A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B8F40ECA-5D1E-4057-86A3-4230225F6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8035AE46-E5F3-47D8-830D-6188DE9DD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B584AAAC-ECF6-4E93-A3A6-EBE8BF8A8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CB43C8FA-15D6-4435-8F3B-98384BB6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C32CAE61-0093-4D79-AF55-DE5ADE67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682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2EA8D60-AF42-41E1-8381-1CC9A6CF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BE77BFF3-C48F-41B4-93F1-E351CC10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9D710F2B-4123-4199-BBC8-DC3DF46D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4D863DD4-5001-4EAB-8A7D-52F3EB01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00952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AB373B18-36D3-410C-B728-27167234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9EFA367F-701E-4C42-913D-4E1D13E25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2FAE1B9-B25F-4CFE-A29B-C718D223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62989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05F1A0C-8DCA-4ED9-A10A-5DE1339C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F56A385-2F20-4AE0-B3FC-A76081C91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3B1D70AA-8E48-44D9-8EDC-38D9957CE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DCBAD95-B37B-4FC3-9CE6-C996458D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B1F63F3-1CE6-4F57-8289-57B5A3CC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25E09F27-7CB2-4AC8-A7A5-EE320B4E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73387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AF468C6-C74B-4333-AF27-3D51BC7E9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DFB76760-062A-4764-B638-4F2EAC698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Y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D32F89B7-0797-4D5B-B3DB-EF2EEB456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42397CC8-EEDF-4501-9CC8-2CBC0C831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617B59C-E4F9-45A8-8055-04010258E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9463A81-C245-477E-B0D5-F3D4501DF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405238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78E3B96-5BA3-496E-B9A7-1BB3B982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FCE0A650-204C-432D-A4D8-E80646D15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C21E13C-A42B-4815-ADF9-C7F8394D7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8FD8111-D00B-45F8-AB99-D65FA2D2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8561AF1-9EA1-4CC2-9539-61F3545C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497101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4F7B8658-8BCA-400C-B2EA-79A0E1259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D0FF59EA-FEF0-4577-A3BE-919E22430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14DDFD2-052B-4D72-9444-28D303F6E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F5E0F65-5E87-4774-9380-80DCA221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B2231DA-9AF1-4AA8-9CB7-8316A3C7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604099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AD9CAF6B-6E67-47BA-A046-A3E49C54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FDA1E21-5415-4829-A784-F36DDCFE4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E646C32-61EB-446A-89F8-EAD0401BB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CE927-3D89-4E87-B7C9-8B99EFCF38DC}" type="datetimeFigureOut">
              <a:rPr lang="ar-SY" smtClean="0"/>
              <a:t>19/05/1447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E0F00D6-A0D9-4EC6-A1C6-3C50C9DD5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9D80884-D86C-48E8-8596-4924B14B3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8943F-185A-4E51-A601-7E43C31719CA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62014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Y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41" Type="http://schemas.openxmlformats.org/officeDocument/2006/relationships/image" Target="../media/image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5" Type="http://schemas.openxmlformats.org/officeDocument/2006/relationships/image" Target="../media/image4.jp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2BFE8C6-DF86-43E8-A497-5593369A36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E5037262-19AB-4373-A002-31B22F42CA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مستطيل: زوايا مستديرة 3">
            <a:extLst>
              <a:ext uri="{FF2B5EF4-FFF2-40B4-BE49-F238E27FC236}">
                <a16:creationId xmlns:a16="http://schemas.microsoft.com/office/drawing/2014/main" id="{C6F82A8E-9986-4206-85CC-C4F89DBA44DE}"/>
              </a:ext>
            </a:extLst>
          </p:cNvPr>
          <p:cNvSpPr/>
          <p:nvPr/>
        </p:nvSpPr>
        <p:spPr>
          <a:xfrm>
            <a:off x="6860822" y="1760897"/>
            <a:ext cx="2065866" cy="101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Y"/>
          </a:p>
        </p:txBody>
      </p:sp>
      <p:pic>
        <p:nvPicPr>
          <p:cNvPr id="6" name="رسم 5" descr="رجل وامرأة مع تعبئة خالصة">
            <a:extLst>
              <a:ext uri="{FF2B5EF4-FFF2-40B4-BE49-F238E27FC236}">
                <a16:creationId xmlns:a16="http://schemas.microsoft.com/office/drawing/2014/main" id="{025CB939-5D85-488E-8076-4A5F73F73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3911" y="1529644"/>
            <a:ext cx="1608667" cy="1394178"/>
          </a:xfrm>
          <a:prstGeom prst="rect">
            <a:avLst/>
          </a:prstGeom>
        </p:spPr>
      </p:pic>
      <p:pic>
        <p:nvPicPr>
          <p:cNvPr id="8" name="صورة 7" descr="أحببته! وحوش غائرة">
            <a:extLst>
              <a:ext uri="{FF2B5EF4-FFF2-40B4-BE49-F238E27FC236}">
                <a16:creationId xmlns:a16="http://schemas.microsoft.com/office/drawing/2014/main" id="{A0B00AA9-2E00-4BF4-9E13-B7A1F6CBC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74" y="4229099"/>
            <a:ext cx="1084438" cy="782639"/>
          </a:xfrm>
          <a:prstGeom prst="rect">
            <a:avLst/>
          </a:prstGeom>
        </p:spPr>
      </p:pic>
      <p:pic>
        <p:nvPicPr>
          <p:cNvPr id="10" name="صورة 9" descr="أيدي كبيرة وصغيرة تحمل القلب الأحمر">
            <a:extLst>
              <a:ext uri="{FF2B5EF4-FFF2-40B4-BE49-F238E27FC236}">
                <a16:creationId xmlns:a16="http://schemas.microsoft.com/office/drawing/2014/main" id="{0E15E95B-977C-4492-805D-F3EB3A2CC6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179" y="2888544"/>
            <a:ext cx="3059289" cy="3255962"/>
          </a:xfrm>
          <a:prstGeom prst="rect">
            <a:avLst/>
          </a:prstGeom>
        </p:spPr>
      </p:pic>
      <p:pic>
        <p:nvPicPr>
          <p:cNvPr id="12" name="رسم 11" descr="السهم: منحنى باتجاه حركة عقارب الساعة مع تعبئة خالصة">
            <a:extLst>
              <a:ext uri="{FF2B5EF4-FFF2-40B4-BE49-F238E27FC236}">
                <a16:creationId xmlns:a16="http://schemas.microsoft.com/office/drawing/2014/main" id="{F18AF801-B5DB-456D-AD1A-A7A19B5C50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14" name="رسم 13" descr="عودة مع تعبئة خالصة">
            <a:extLst>
              <a:ext uri="{FF2B5EF4-FFF2-40B4-BE49-F238E27FC236}">
                <a16:creationId xmlns:a16="http://schemas.microsoft.com/office/drawing/2014/main" id="{AD2CE4B8-27F7-414A-9DF1-CFDA490868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53200" y="1529644"/>
            <a:ext cx="914400" cy="914400"/>
          </a:xfrm>
          <a:prstGeom prst="rect">
            <a:avLst/>
          </a:prstGeom>
        </p:spPr>
      </p:pic>
      <p:pic>
        <p:nvPicPr>
          <p:cNvPr id="16" name="رسم 15" descr="علامة تحديد مع تعبئة خالصة">
            <a:extLst>
              <a:ext uri="{FF2B5EF4-FFF2-40B4-BE49-F238E27FC236}">
                <a16:creationId xmlns:a16="http://schemas.microsoft.com/office/drawing/2014/main" id="{9DBB4238-C5D2-4091-9FCB-D7A2998E03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68244" y="4821237"/>
            <a:ext cx="914400" cy="914400"/>
          </a:xfrm>
          <a:prstGeom prst="rect">
            <a:avLst/>
          </a:prstGeom>
        </p:spPr>
      </p:pic>
      <p:pic>
        <p:nvPicPr>
          <p:cNvPr id="18" name="رسم 17" descr="أطفال مع تعبئة خالصة">
            <a:extLst>
              <a:ext uri="{FF2B5EF4-FFF2-40B4-BE49-F238E27FC236}">
                <a16:creationId xmlns:a16="http://schemas.microsoft.com/office/drawing/2014/main" id="{9096183A-BF54-43E6-B794-4A4EBA20D41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82000" y="3582458"/>
            <a:ext cx="914400" cy="914400"/>
          </a:xfrm>
          <a:prstGeom prst="rect">
            <a:avLst/>
          </a:prstGeom>
        </p:spPr>
      </p:pic>
      <p:pic>
        <p:nvPicPr>
          <p:cNvPr id="20" name="رسم 19" descr="نموّ الأعمال مع تعبئة خالصة">
            <a:extLst>
              <a:ext uri="{FF2B5EF4-FFF2-40B4-BE49-F238E27FC236}">
                <a16:creationId xmlns:a16="http://schemas.microsoft.com/office/drawing/2014/main" id="{2F26CF88-D808-47D9-9191-1662129E42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90467" y="4505855"/>
            <a:ext cx="914400" cy="914400"/>
          </a:xfrm>
          <a:prstGeom prst="rect">
            <a:avLst/>
          </a:prstGeom>
        </p:spPr>
      </p:pic>
      <p:pic>
        <p:nvPicPr>
          <p:cNvPr id="22" name="رسم 21" descr="نموّ الأعمال مع تعبئة خالصة">
            <a:extLst>
              <a:ext uri="{FF2B5EF4-FFF2-40B4-BE49-F238E27FC236}">
                <a16:creationId xmlns:a16="http://schemas.microsoft.com/office/drawing/2014/main" id="{939ABBC9-5F13-453A-A540-4543FBBD1E6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29233" y="4229100"/>
            <a:ext cx="914400" cy="914400"/>
          </a:xfrm>
          <a:prstGeom prst="rect">
            <a:avLst/>
          </a:prstGeom>
        </p:spPr>
      </p:pic>
      <p:pic>
        <p:nvPicPr>
          <p:cNvPr id="24" name="رسم 23" descr="وجه غارق في الحب بحشوة ثابتة مع تعبئة خالصة">
            <a:extLst>
              <a:ext uri="{FF2B5EF4-FFF2-40B4-BE49-F238E27FC236}">
                <a16:creationId xmlns:a16="http://schemas.microsoft.com/office/drawing/2014/main" id="{26FB6B2B-01D3-4954-8FD2-C555FEE5058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26" name="رسم 25" descr="تخطيط خارجي لوجه يبكي مع تعبئة خالصة">
            <a:extLst>
              <a:ext uri="{FF2B5EF4-FFF2-40B4-BE49-F238E27FC236}">
                <a16:creationId xmlns:a16="http://schemas.microsoft.com/office/drawing/2014/main" id="{E4920155-EE9B-4B31-A368-F0605DB7D84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639889" y="1345500"/>
            <a:ext cx="914400" cy="914400"/>
          </a:xfrm>
          <a:prstGeom prst="rect">
            <a:avLst/>
          </a:prstGeom>
        </p:spPr>
      </p:pic>
      <p:pic>
        <p:nvPicPr>
          <p:cNvPr id="28" name="رسم 27" descr="تخطيط خارجي لوجه يشعر بالحب مع تعبئة خالصة">
            <a:extLst>
              <a:ext uri="{FF2B5EF4-FFF2-40B4-BE49-F238E27FC236}">
                <a16:creationId xmlns:a16="http://schemas.microsoft.com/office/drawing/2014/main" id="{7F38E6F8-0376-4654-B832-8B98EB31988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54289" y="2888544"/>
            <a:ext cx="914400" cy="914400"/>
          </a:xfrm>
          <a:prstGeom prst="rect">
            <a:avLst/>
          </a:prstGeom>
        </p:spPr>
      </p:pic>
      <p:pic>
        <p:nvPicPr>
          <p:cNvPr id="30" name="رسم 29" descr="رجل وامرأة مع تعبئة خالصة">
            <a:extLst>
              <a:ext uri="{FF2B5EF4-FFF2-40B4-BE49-F238E27FC236}">
                <a16:creationId xmlns:a16="http://schemas.microsoft.com/office/drawing/2014/main" id="{A3B3E5FA-2086-4E4B-86AF-AA16044044F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540345" y="1223703"/>
            <a:ext cx="914400" cy="914400"/>
          </a:xfrm>
          <a:prstGeom prst="rect">
            <a:avLst/>
          </a:prstGeom>
        </p:spPr>
      </p:pic>
      <p:pic>
        <p:nvPicPr>
          <p:cNvPr id="32" name="رسم 31" descr="مخطط دائري مع تعبئة خالصة">
            <a:extLst>
              <a:ext uri="{FF2B5EF4-FFF2-40B4-BE49-F238E27FC236}">
                <a16:creationId xmlns:a16="http://schemas.microsoft.com/office/drawing/2014/main" id="{A3656EC7-55E1-4990-82E3-6651D4440CA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146838" y="5562599"/>
            <a:ext cx="914400" cy="914400"/>
          </a:xfrm>
          <a:prstGeom prst="rect">
            <a:avLst/>
          </a:prstGeom>
        </p:spPr>
      </p:pic>
      <p:pic>
        <p:nvPicPr>
          <p:cNvPr id="34" name="رسم 33" descr="تخطيط خارجي لوجه حزين مع تعبئة خالصة">
            <a:extLst>
              <a:ext uri="{FF2B5EF4-FFF2-40B4-BE49-F238E27FC236}">
                <a16:creationId xmlns:a16="http://schemas.microsoft.com/office/drawing/2014/main" id="{7842DF8B-3BE6-472E-B852-C57690C36F9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77267" y="1495500"/>
            <a:ext cx="914400" cy="914400"/>
          </a:xfrm>
          <a:prstGeom prst="rect">
            <a:avLst/>
          </a:prstGeom>
        </p:spPr>
      </p:pic>
      <p:pic>
        <p:nvPicPr>
          <p:cNvPr id="36" name="رسم 35" descr="سيدة مع تعبئة خالصة">
            <a:extLst>
              <a:ext uri="{FF2B5EF4-FFF2-40B4-BE49-F238E27FC236}">
                <a16:creationId xmlns:a16="http://schemas.microsoft.com/office/drawing/2014/main" id="{B5A7B9CF-CE60-4460-8656-A1F85A5D250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979355" y="4435475"/>
            <a:ext cx="914400" cy="914400"/>
          </a:xfrm>
          <a:prstGeom prst="rect">
            <a:avLst/>
          </a:prstGeom>
        </p:spPr>
      </p:pic>
      <p:pic>
        <p:nvPicPr>
          <p:cNvPr id="38" name="رسم 37" descr="مخطط شريطي مع تعبئة خالصة">
            <a:extLst>
              <a:ext uri="{FF2B5EF4-FFF2-40B4-BE49-F238E27FC236}">
                <a16:creationId xmlns:a16="http://schemas.microsoft.com/office/drawing/2014/main" id="{AF472CF0-6196-4939-A9B0-958420E3A38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40" name="رسم 39" descr="مخطط شريط باتجاه هبوطي مع تعبئة خالصة">
            <a:extLst>
              <a:ext uri="{FF2B5EF4-FFF2-40B4-BE49-F238E27FC236}">
                <a16:creationId xmlns:a16="http://schemas.microsoft.com/office/drawing/2014/main" id="{3B1C53BB-98A3-41DA-9605-153687EF8E30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788800" y="3121800"/>
            <a:ext cx="914400" cy="914400"/>
          </a:xfrm>
          <a:prstGeom prst="rect">
            <a:avLst/>
          </a:prstGeom>
        </p:spPr>
      </p:pic>
      <p:pic>
        <p:nvPicPr>
          <p:cNvPr id="42" name="رسم 41" descr="مخطط شريط باتجاه صعودي مع تعبئة خالصة">
            <a:extLst>
              <a:ext uri="{FF2B5EF4-FFF2-40B4-BE49-F238E27FC236}">
                <a16:creationId xmlns:a16="http://schemas.microsoft.com/office/drawing/2014/main" id="{7469290C-8DF2-4DA0-B331-0C08169BEB1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938800" y="3271800"/>
            <a:ext cx="914400" cy="914400"/>
          </a:xfrm>
          <a:prstGeom prst="rect">
            <a:avLst/>
          </a:prstGeom>
        </p:spPr>
      </p:pic>
      <p:pic>
        <p:nvPicPr>
          <p:cNvPr id="44" name="رسم 43" descr="نقطة الهدف مع تعبئة خالصة">
            <a:extLst>
              <a:ext uri="{FF2B5EF4-FFF2-40B4-BE49-F238E27FC236}">
                <a16:creationId xmlns:a16="http://schemas.microsoft.com/office/drawing/2014/main" id="{16230EEF-86B5-47FF-926B-9C964CDED56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088800" y="3421800"/>
            <a:ext cx="914400" cy="914400"/>
          </a:xfrm>
          <a:prstGeom prst="rect">
            <a:avLst/>
          </a:prstGeom>
        </p:spPr>
      </p:pic>
      <p:pic>
        <p:nvPicPr>
          <p:cNvPr id="46" name="رسم 45" descr="قاعدة بيانات مع تعبئة خالصة">
            <a:extLst>
              <a:ext uri="{FF2B5EF4-FFF2-40B4-BE49-F238E27FC236}">
                <a16:creationId xmlns:a16="http://schemas.microsoft.com/office/drawing/2014/main" id="{6C412ADF-C874-4807-BBDE-20983692967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238800" y="3571800"/>
            <a:ext cx="914400" cy="914400"/>
          </a:xfrm>
          <a:prstGeom prst="rect">
            <a:avLst/>
          </a:prstGeom>
        </p:spPr>
      </p:pic>
      <p:pic>
        <p:nvPicPr>
          <p:cNvPr id="48" name="رسم 47" descr="مخطط دائري مع تعبئة خالصة">
            <a:extLst>
              <a:ext uri="{FF2B5EF4-FFF2-40B4-BE49-F238E27FC236}">
                <a16:creationId xmlns:a16="http://schemas.microsoft.com/office/drawing/2014/main" id="{DAFC03FC-F89C-4228-A04E-BC844642E46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388800" y="372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53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255EBDB-8D44-471A-B685-5D40514A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 dirty="0"/>
          </a:p>
        </p:txBody>
      </p:sp>
      <p:graphicFrame>
        <p:nvGraphicFramePr>
          <p:cNvPr id="4" name="عنصر نائب للمحتوى 3">
            <a:extLst>
              <a:ext uri="{FF2B5EF4-FFF2-40B4-BE49-F238E27FC236}">
                <a16:creationId xmlns:a16="http://schemas.microsoft.com/office/drawing/2014/main" id="{80859113-0A47-49AE-A0C8-E21A80B295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5554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115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E3DB5E2-1E23-49DD-B9BE-FB9077E3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47500993-922A-4CC1-92F7-34E201269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05524" y="2496532"/>
            <a:ext cx="4380952" cy="3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4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D63B763-2A99-4266-BAAD-37A8F519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D34BEF1-D510-458A-9325-C467DFCD1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7200" algn="l" rtl="0">
              <a:lnSpc>
                <a:spcPct val="200000"/>
              </a:lnSpc>
              <a:spcBef>
                <a:spcPts val="20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Plasma APJ Levels and Associations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pPr indent="457200" algn="just" rtl="0">
              <a:lnSpc>
                <a:spcPct val="200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mean plasma APJ level was significantly lower in the CAD group (197.19 ± 78.06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/mL) compared to the control group (248.19 ± 168.15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pg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/mL) (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0.0046) (Figure 1). There were no statistically significant differences in plasma APJ levels between male and female subjects within either the CAD (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0.0978) or control (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0.937) groups (Table S1).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55375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1851CF5-8147-43EB-B7B5-86F6B12DF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Y"/>
          </a:p>
        </p:txBody>
      </p:sp>
      <p:pic>
        <p:nvPicPr>
          <p:cNvPr id="6" name="عنصر نائب للمحتوى 5">
            <a:extLst>
              <a:ext uri="{FF2B5EF4-FFF2-40B4-BE49-F238E27FC236}">
                <a16:creationId xmlns:a16="http://schemas.microsoft.com/office/drawing/2014/main" id="{A7E5D1F5-BAF9-42BD-9F46-3629A2DA7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246" y="1825625"/>
            <a:ext cx="54295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68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BAAEE48-66CC-4E22-9728-0707ECDA6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26" y="1113184"/>
            <a:ext cx="11290852" cy="5379690"/>
          </a:xfrm>
        </p:spPr>
        <p:txBody>
          <a:bodyPr/>
          <a:lstStyle/>
          <a:p>
            <a:pPr algn="just" rtl="0"/>
            <a:r>
              <a:rPr lang="en-US" dirty="0">
                <a:solidFill>
                  <a:srgbClr val="FF0000"/>
                </a:solidFill>
              </a:rPr>
              <a:t>Plasma Apelin Concentrations and Coronary Artery Disease</a:t>
            </a:r>
          </a:p>
          <a:p>
            <a:pPr algn="just" rtl="0"/>
            <a:r>
              <a:rPr lang="en-US" dirty="0"/>
              <a:t>Our investigation revealed a significant disparity in plasma apelin levels between patients diagnosed with CAD and healthy controls. Specifically, the mean plasma apelin concentration was substantial-</a:t>
            </a:r>
            <a:r>
              <a:rPr lang="en-US" dirty="0" err="1"/>
              <a:t>ly</a:t>
            </a:r>
            <a:r>
              <a:rPr lang="en-US" dirty="0"/>
              <a:t> lower in the CAD group (2737.81±1205.01 </a:t>
            </a:r>
            <a:r>
              <a:rPr lang="en-US" dirty="0" err="1"/>
              <a:t>pg</a:t>
            </a:r>
            <a:r>
              <a:rPr lang="en-US" dirty="0"/>
              <a:t>/ml) compared to the control group (4258.73±2119.12 </a:t>
            </a:r>
            <a:r>
              <a:rPr lang="en-US" dirty="0" err="1"/>
              <a:t>pg</a:t>
            </a:r>
            <a:r>
              <a:rPr lang="en-US" dirty="0"/>
              <a:t>/ml), with a highly statistically significant difference (p </a:t>
            </a:r>
            <a:r>
              <a:rPr lang="en-US" b="1" dirty="0"/>
              <a:t>&lt; 0.001</a:t>
            </a:r>
            <a:r>
              <a:rPr lang="en-US" dirty="0"/>
              <a:t>) (Figure 1). This finding suggests a potential correlation between apelin levels and CAD risk.</a:t>
            </a:r>
          </a:p>
          <a:p>
            <a:endParaRPr lang="ar-SY" dirty="0"/>
          </a:p>
        </p:txBody>
      </p:sp>
      <p:sp>
        <p:nvSpPr>
          <p:cNvPr id="4" name="عنوان 1">
            <a:extLst>
              <a:ext uri="{FF2B5EF4-FFF2-40B4-BE49-F238E27FC236}">
                <a16:creationId xmlns:a16="http://schemas.microsoft.com/office/drawing/2014/main" id="{077D6284-B681-4C0B-8398-359A1DBC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58"/>
          </a:xfrm>
        </p:spPr>
        <p:txBody>
          <a:bodyPr/>
          <a:lstStyle/>
          <a:p>
            <a:pPr algn="ctr"/>
            <a:r>
              <a:rPr lang="en-US" dirty="0"/>
              <a:t>-1860 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&gt;C</a:t>
            </a:r>
            <a:endParaRPr lang="ar-SY" dirty="0"/>
          </a:p>
        </p:txBody>
      </p:sp>
      <p:graphicFrame>
        <p:nvGraphicFramePr>
          <p:cNvPr id="9" name="مخطط 8">
            <a:extLst>
              <a:ext uri="{FF2B5EF4-FFF2-40B4-BE49-F238E27FC236}">
                <a16:creationId xmlns:a16="http://schemas.microsoft.com/office/drawing/2014/main" id="{5F473435-1548-4A92-BD82-B26002C255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447379"/>
              </p:ext>
            </p:extLst>
          </p:nvPr>
        </p:nvGraphicFramePr>
        <p:xfrm>
          <a:off x="5255342" y="3975303"/>
          <a:ext cx="4572000" cy="275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5826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DE2F8FD-FF98-4DAB-8CC9-9B6680A1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-1860 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&gt;C</a:t>
            </a:r>
            <a:endParaRPr lang="ar-SY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DBA2FAE-D58D-4648-9029-AFF283986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rtl="0"/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CAD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patients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plasma apelin levels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were slightly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lower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 individuals with the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TC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genotype (2475.0043 ± 1198.9584 </a:t>
            </a:r>
            <a:r>
              <a:rPr lang="en-US" sz="2400" spc="-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pg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/ml) compared to those with the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TT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genotype (2924.4346 ± 1199.7558 </a:t>
            </a:r>
            <a:r>
              <a:rPr lang="en-US" sz="2400" spc="-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pg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/ml), although this difference did not reach statistical significance (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 &gt; 0.05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(Figure 4). Similarly,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 significant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differences in plasma apelin levels were observed among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control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individuals with different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genotypes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 &gt; 0.05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). </a:t>
            </a:r>
          </a:p>
          <a:p>
            <a:pPr algn="just" rtl="0"/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Notably, a statistically significant difference in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plasma apelin levels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was observed between carriers of the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 allele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and those carrying the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 allele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CAD patients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(1939.1939 ± 987.8905 </a:t>
            </a:r>
            <a:r>
              <a:rPr lang="en-US" sz="2400" spc="-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pg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/ml vs 2867.0361 ± 1184.9195 </a:t>
            </a:r>
            <a:r>
              <a:rPr lang="en-US" sz="2400" spc="-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pg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/ml, respectively, p =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0.002)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pPr algn="just" rtl="0"/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This disparity was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not observed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control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individuals, where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plasma apelin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levels were comparable between 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 and C allele 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carriers. </a:t>
            </a:r>
            <a:endParaRPr lang="ar-SY" sz="2400" dirty="0"/>
          </a:p>
        </p:txBody>
      </p:sp>
    </p:spTree>
    <p:extLst>
      <p:ext uri="{BB962C8B-B14F-4D97-AF65-F5344CB8AC3E}">
        <p14:creationId xmlns:p14="http://schemas.microsoft.com/office/powerpoint/2010/main" val="404557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3118942-AA04-4763-96C0-570CAC74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SY" dirty="0"/>
              <a:t>تصحيح أخطاء املائية في </a:t>
            </a:r>
            <a:r>
              <a:rPr lang="en-US" dirty="0"/>
              <a:t>GRAPHICAL ABSTRACT</a:t>
            </a:r>
            <a:br>
              <a:rPr lang="en-US" dirty="0"/>
            </a:br>
            <a:r>
              <a:rPr lang="ar-SY" dirty="0"/>
              <a:t>بالجدول لا يوجد نمط </a:t>
            </a:r>
            <a:r>
              <a:rPr lang="en-US" dirty="0"/>
              <a:t>CC</a:t>
            </a:r>
            <a:r>
              <a:rPr lang="ar-SY" dirty="0"/>
              <a:t>...</a:t>
            </a:r>
            <a:r>
              <a:rPr lang="en-US" dirty="0"/>
              <a:t>CAD patients</a:t>
            </a:r>
            <a:r>
              <a:rPr lang="ar-SY" dirty="0"/>
              <a:t>، </a:t>
            </a:r>
            <a:r>
              <a:rPr lang="en-US" dirty="0" err="1"/>
              <a:t>Cassociation</a:t>
            </a:r>
            <a:endParaRPr lang="ar-SY" dirty="0"/>
          </a:p>
        </p:txBody>
      </p:sp>
      <p:graphicFrame>
        <p:nvGraphicFramePr>
          <p:cNvPr id="5" name="عنصر نائب للمحتوى 4">
            <a:extLst>
              <a:ext uri="{FF2B5EF4-FFF2-40B4-BE49-F238E27FC236}">
                <a16:creationId xmlns:a16="http://schemas.microsoft.com/office/drawing/2014/main" id="{F1A971D5-8A21-4B19-9481-93B49FF27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505139"/>
              </p:ext>
            </p:extLst>
          </p:nvPr>
        </p:nvGraphicFramePr>
        <p:xfrm>
          <a:off x="838200" y="1922907"/>
          <a:ext cx="10515600" cy="1338010"/>
        </p:xfrm>
        <a:graphic>
          <a:graphicData uri="http://schemas.openxmlformats.org/drawingml/2006/table">
            <a:tbl>
              <a:tblPr firstRow="1" firstCol="1" band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7686264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813352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590114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927048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9931840"/>
                    </a:ext>
                  </a:extLst>
                </a:gridCol>
              </a:tblGrid>
              <a:tr h="475615"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genotypes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Control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  <a:p>
                      <a:pPr indent="45720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(n=67)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  <a:p>
                      <a:pPr indent="45720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(n=23)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 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  <a:p>
                      <a:pPr indent="45720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CI (95%)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932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 (89.6%)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 (89.6%)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indent="457200" algn="ctr" rtl="0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0.041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indent="45720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3.75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  <a:p>
                      <a:pPr indent="45720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Simplified Arabic" panose="02020603050405020304" pitchFamily="18" charset="-78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(1.15-12.25)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72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TC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 (30.5%)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 (10.5%)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082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CC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475190"/>
                  </a:ext>
                </a:extLst>
              </a:tr>
            </a:tbl>
          </a:graphicData>
        </a:graphic>
      </p:graphicFrame>
      <p:graphicFrame>
        <p:nvGraphicFramePr>
          <p:cNvPr id="6" name="جدول 5">
            <a:extLst>
              <a:ext uri="{FF2B5EF4-FFF2-40B4-BE49-F238E27FC236}">
                <a16:creationId xmlns:a16="http://schemas.microsoft.com/office/drawing/2014/main" id="{304BE59B-A003-48B0-9C31-87ADFEBE4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95792"/>
              </p:ext>
            </p:extLst>
          </p:nvPr>
        </p:nvGraphicFramePr>
        <p:xfrm>
          <a:off x="987496" y="3597084"/>
          <a:ext cx="9951965" cy="1293348"/>
        </p:xfrm>
        <a:graphic>
          <a:graphicData uri="http://schemas.openxmlformats.org/drawingml/2006/table">
            <a:tbl>
              <a:tblPr rtl="1" firstRow="1" firstCol="1" bandRow="1"/>
              <a:tblGrid>
                <a:gridCol w="2108986">
                  <a:extLst>
                    <a:ext uri="{9D8B030D-6E8A-4147-A177-3AD203B41FA5}">
                      <a16:colId xmlns:a16="http://schemas.microsoft.com/office/drawing/2014/main" val="631424174"/>
                    </a:ext>
                  </a:extLst>
                </a:gridCol>
                <a:gridCol w="1385185">
                  <a:extLst>
                    <a:ext uri="{9D8B030D-6E8A-4147-A177-3AD203B41FA5}">
                      <a16:colId xmlns:a16="http://schemas.microsoft.com/office/drawing/2014/main" val="1597395882"/>
                    </a:ext>
                  </a:extLst>
                </a:gridCol>
                <a:gridCol w="1836510">
                  <a:extLst>
                    <a:ext uri="{9D8B030D-6E8A-4147-A177-3AD203B41FA5}">
                      <a16:colId xmlns:a16="http://schemas.microsoft.com/office/drawing/2014/main" val="1411072115"/>
                    </a:ext>
                  </a:extLst>
                </a:gridCol>
                <a:gridCol w="2310642">
                  <a:extLst>
                    <a:ext uri="{9D8B030D-6E8A-4147-A177-3AD203B41FA5}">
                      <a16:colId xmlns:a16="http://schemas.microsoft.com/office/drawing/2014/main" val="547913882"/>
                    </a:ext>
                  </a:extLst>
                </a:gridCol>
                <a:gridCol w="2310642">
                  <a:extLst>
                    <a:ext uri="{9D8B030D-6E8A-4147-A177-3AD203B41FA5}">
                      <a16:colId xmlns:a16="http://schemas.microsoft.com/office/drawing/2014/main" val="2851216806"/>
                    </a:ext>
                  </a:extLst>
                </a:gridCol>
              </a:tblGrid>
              <a:tr h="600563"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OR: CI (95%)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P-value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  <a:p>
                      <a:pPr indent="457200"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(n=108)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Non-CAD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  <a:p>
                      <a:pPr indent="457200"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(n=114)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-1860T&gt;C Alleles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37462"/>
                  </a:ext>
                </a:extLst>
              </a:tr>
              <a:tr h="339725">
                <a:tc rowSpan="2">
                  <a:txBody>
                    <a:bodyPr/>
                    <a:lstStyle/>
                    <a:p>
                      <a:pPr indent="457200"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1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3.044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  <a:p>
                      <a:pPr indent="457200"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[1.32- 7.01]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indent="457200"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0.007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113 (86.3%)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(95%)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469714"/>
                  </a:ext>
                </a:extLst>
              </a:tr>
              <a:tr h="353060">
                <a:tc v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ar-S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 (13.7%)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 (5%)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627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064917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461</Words>
  <Application>Microsoft Office PowerPoint</Application>
  <PresentationFormat>شاشة عريضة</PresentationFormat>
  <Paragraphs>50</Paragraphs>
  <Slides>8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Simplified Arabic</vt:lpstr>
      <vt:lpstr>Times New Roman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-1860 T&gt;C</vt:lpstr>
      <vt:lpstr>-1860 T&gt;C</vt:lpstr>
      <vt:lpstr>تصحيح أخطاء املائية في GRAPHICAL ABSTRACT بالجدول لا يوجد نمط CC...CAD patients، Cassociation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dr.maissa</dc:creator>
  <cp:lastModifiedBy>dr.maissa</cp:lastModifiedBy>
  <cp:revision>8</cp:revision>
  <dcterms:created xsi:type="dcterms:W3CDTF">2025-11-05T12:08:30Z</dcterms:created>
  <dcterms:modified xsi:type="dcterms:W3CDTF">2025-11-09T06:42:33Z</dcterms:modified>
</cp:coreProperties>
</file>